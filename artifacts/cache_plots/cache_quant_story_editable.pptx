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12121"/>
                </a:solidFill>
              </a:defRPr>
            </a:pPr>
            <a:r>
              <a:t>LMCache Quant Reuse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All elements are editable in PowerPoint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Without Quant: repeated requests still rebuild cache (load ~ 0, store high)</a:t>
            </a:r>
          </a:p>
          <a:p>
            <a:pPr>
              <a:defRPr sz="2000"/>
            </a:pPr>
            <a:r>
              <a:t>With Quant: repeated requests can reuse cache (load rises, TTFT drops)</a:t>
            </a:r>
          </a:p>
          <a:p>
            <a:pPr>
              <a:defRPr sz="2000"/>
            </a:pPr>
            <a:r>
              <a:t>2Q repeated round: Quant reaches full reuse (load=40960, store=0)</a:t>
            </a:r>
          </a:p>
          <a:p>
            <a:pPr>
              <a:defRPr sz="2000"/>
            </a:pPr>
            <a:r>
              <a:t>3Q repeated round: Quant has partial reuse (load=9216, store=31744)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840480"/>
            <a:ext cx="5212080" cy="2103120"/>
          </a:xfrm>
          <a:prstGeom prst="roundRect">
            <a:avLst/>
          </a:prstGeom>
          <a:solidFill>
            <a:srgbClr val="F4F6F7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2Q repeated round</a:t>
            </a:r>
          </a:p>
          <a:p>
            <a:pPr>
              <a:defRPr sz="1400"/>
            </a:pPr>
            <a:r>
              <a:t>NoQuant retention: 0.0%</a:t>
            </a:r>
          </a:p>
          <a:p>
            <a:pPr>
              <a:defRPr sz="1400"/>
            </a:pPr>
            <a:r>
              <a:t>Quant retention:   100.0%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3840480"/>
            <a:ext cx="5212080" cy="2103120"/>
          </a:xfrm>
          <a:prstGeom prst="roundRect">
            <a:avLst/>
          </a:prstGeom>
          <a:solidFill>
            <a:srgbClr val="F4F6F7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3Q repeated round</a:t>
            </a:r>
          </a:p>
          <a:p>
            <a:pPr>
              <a:defRPr sz="1400"/>
            </a:pPr>
            <a:r>
              <a:t>NoQuant retention: 0.4%</a:t>
            </a:r>
          </a:p>
          <a:p>
            <a:pPr>
              <a:defRPr sz="1400"/>
            </a:pPr>
            <a:r>
              <a:t>Quant retention:   100.0%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12121"/>
                </a:solidFill>
              </a:defRPr>
            </a:pPr>
            <a:r>
              <a:t>3Q Sequential Timeline (Editable Table)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One user sends req1 -&gt; req2 -&gt; req3 in sequence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230"/>
                <a:gridCol w="879230"/>
                <a:gridCol w="879230"/>
                <a:gridCol w="879230"/>
                <a:gridCol w="879230"/>
                <a:gridCol w="879230"/>
                <a:gridCol w="879230"/>
                <a:gridCol w="879230"/>
                <a:gridCol w="879230"/>
                <a:gridCol w="879230"/>
                <a:gridCol w="879230"/>
                <a:gridCol w="879230"/>
                <a:gridCol w="879240"/>
              </a:tblGrid>
              <a:tr h="67056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req1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TTFT(ms)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req2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TTFT(ms)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req3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TTFT(ms)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req4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TTFT(ms)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req5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TTFT(ms)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req6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TTFT(ms)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31306.60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30869.98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30351.83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30552.87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30619.58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30746.89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40523.25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41785.93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40347.48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12990.40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12265.84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12332.00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47472" y="3493008"/>
            <a:ext cx="11384280" cy="29260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611880"/>
            <a:ext cx="11064240" cy="310896"/>
          </a:xfrm>
          <a:prstGeom prst="roundRect">
            <a:avLst/>
          </a:prstGeom>
          <a:solidFill>
            <a:srgbClr val="E9EFF7"/>
          </a:solidFill>
          <a:ln>
            <a:solidFill>
              <a:srgbClr val="D2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32465F"/>
                </a:solidFill>
              </a:defRPr>
            </a:pPr>
            <a:r>
              <a:t>Sequential Timeline Area (editable)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3648456"/>
            <a:ext cx="1097280" cy="237744"/>
          </a:xfrm>
          <a:prstGeom prst="roundRect">
            <a:avLst/>
          </a:prstGeom>
          <a:solidFill>
            <a:srgbClr val="5F6C7A"/>
          </a:solidFill>
          <a:ln>
            <a:solidFill>
              <a:srgbClr val="5F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NoQuant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78440" y="3648456"/>
            <a:ext cx="1097280" cy="237744"/>
          </a:xfrm>
          <a:prstGeom prst="roundRect">
            <a:avLst/>
          </a:prstGeom>
          <a:solidFill>
            <a:srgbClr val="1D4E89"/>
          </a:solidFill>
          <a:ln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Quant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0784" y="3639312"/>
            <a:ext cx="9189720" cy="310896"/>
          </a:xfrm>
          <a:prstGeom prst="roundRect">
            <a:avLst/>
          </a:prstGeom>
          <a:solidFill>
            <a:srgbClr val="FCFDFF"/>
          </a:solidFill>
          <a:ln w="889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37307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req1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00784" y="4023360"/>
            <a:ext cx="9189720" cy="310896"/>
          </a:xfrm>
          <a:prstGeom prst="roundRect">
            <a:avLst/>
          </a:prstGeom>
          <a:solidFill>
            <a:srgbClr val="FCFDFF"/>
          </a:solidFill>
          <a:ln w="889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4114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req2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00784" y="4407408"/>
            <a:ext cx="9189720" cy="310896"/>
          </a:xfrm>
          <a:prstGeom prst="roundRect">
            <a:avLst/>
          </a:prstGeom>
          <a:solidFill>
            <a:srgbClr val="FCFDFF"/>
          </a:solidFill>
          <a:ln w="889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4988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req3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2219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/>
            </a:pPr>
            <a:r>
              <a:t>NoQuant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3657600"/>
            <a:ext cx="1520984" cy="274320"/>
          </a:xfrm>
          <a:prstGeom prst="roundRect">
            <a:avLst/>
          </a:prstGeom>
          <a:solidFill>
            <a:srgbClr val="5F6C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run1 | 31.31s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9784" y="4041648"/>
            <a:ext cx="1499772" cy="274320"/>
          </a:xfrm>
          <a:prstGeom prst="roundRect">
            <a:avLst/>
          </a:prstGeom>
          <a:solidFill>
            <a:srgbClr val="5F6C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run1 | 30.87s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5276" y="4425696"/>
            <a:ext cx="1474598" cy="274320"/>
          </a:xfrm>
          <a:prstGeom prst="roundRect">
            <a:avLst/>
          </a:prstGeom>
          <a:solidFill>
            <a:srgbClr val="5F6C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run1 | 30.35s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5595" y="3657600"/>
            <a:ext cx="1484365" cy="274320"/>
          </a:xfrm>
          <a:prstGeom prst="roundRect">
            <a:avLst/>
          </a:prstGeom>
          <a:solidFill>
            <a:srgbClr val="5F6C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run2 | 30.55s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43572" y="3968496"/>
            <a:ext cx="4614206" cy="0"/>
          </a:xfrm>
          <a:prstGeom prst="line">
            <a:avLst/>
          </a:prstGeom>
          <a:ln w="15875">
            <a:solidFill>
              <a:srgbClr val="5F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45681" y="4041648"/>
            <a:ext cx="1487606" cy="274320"/>
          </a:xfrm>
          <a:prstGeom prst="roundRect">
            <a:avLst/>
          </a:prstGeom>
          <a:solidFill>
            <a:srgbClr val="5F6C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run2 | 30.62s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99670" y="4352544"/>
            <a:ext cx="4589814" cy="0"/>
          </a:xfrm>
          <a:prstGeom prst="line">
            <a:avLst/>
          </a:prstGeom>
          <a:ln w="15875">
            <a:solidFill>
              <a:srgbClr val="5F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479008" y="4425696"/>
            <a:ext cx="1493791" cy="274320"/>
          </a:xfrm>
          <a:prstGeom prst="roundRect">
            <a:avLst/>
          </a:prstGeom>
          <a:solidFill>
            <a:srgbClr val="5F6C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run2 | 30.75s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32576" y="4736592"/>
            <a:ext cx="4593328" cy="0"/>
          </a:xfrm>
          <a:prstGeom prst="line">
            <a:avLst/>
          </a:prstGeom>
          <a:ln w="15875">
            <a:solidFill>
              <a:srgbClr val="5F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44200" y="3584448"/>
            <a:ext cx="0" cy="1207008"/>
          </a:xfrm>
          <a:prstGeom prst="line">
            <a:avLst/>
          </a:prstGeom>
          <a:ln w="10160">
            <a:solidFill>
              <a:srgbClr val="C3C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700784" y="5056632"/>
            <a:ext cx="9189720" cy="310896"/>
          </a:xfrm>
          <a:prstGeom prst="roundRect">
            <a:avLst/>
          </a:prstGeom>
          <a:solidFill>
            <a:srgbClr val="FCFDFF"/>
          </a:solidFill>
          <a:ln w="889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51480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req1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00784" y="5440680"/>
            <a:ext cx="9189720" cy="310896"/>
          </a:xfrm>
          <a:prstGeom prst="roundRect">
            <a:avLst/>
          </a:prstGeom>
          <a:solidFill>
            <a:srgbClr val="FCFDFF"/>
          </a:solidFill>
          <a:ln w="889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55321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req2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00784" y="5824728"/>
            <a:ext cx="9189720" cy="310896"/>
          </a:xfrm>
          <a:prstGeom prst="roundRect">
            <a:avLst/>
          </a:prstGeom>
          <a:solidFill>
            <a:srgbClr val="FCFDFF"/>
          </a:solidFill>
          <a:ln w="889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7008" y="59161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req3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23951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/>
            </a:pPr>
            <a:r>
              <a:t>Quant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83080" y="5074920"/>
            <a:ext cx="1968761" cy="274320"/>
          </a:xfrm>
          <a:prstGeom prst="roundRect">
            <a:avLst/>
          </a:prstGeom>
          <a:solidFill>
            <a:srgbClr val="1D4E8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run1 | 40.52s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7561" y="5458968"/>
            <a:ext cx="2030107" cy="274320"/>
          </a:xfrm>
          <a:prstGeom prst="roundRect">
            <a:avLst/>
          </a:prstGeom>
          <a:solidFill>
            <a:srgbClr val="1D4E8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run1 | 41.79s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73389" y="5843016"/>
            <a:ext cx="1960222" cy="274320"/>
          </a:xfrm>
          <a:prstGeom prst="roundRect">
            <a:avLst/>
          </a:prstGeom>
          <a:solidFill>
            <a:srgbClr val="1D4E8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run1 | 40.35s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9331" y="5074920"/>
            <a:ext cx="631119" cy="274320"/>
          </a:xfrm>
          <a:prstGeom prst="roundRect">
            <a:avLst/>
          </a:prstGeom>
          <a:solidFill>
            <a:srgbClr val="1D4E8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run2 | 12.99s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767460" y="5385816"/>
            <a:ext cx="5427431" cy="0"/>
          </a:xfrm>
          <a:prstGeom prst="line">
            <a:avLst/>
          </a:prstGeom>
          <a:ln w="15875">
            <a:solidFill>
              <a:srgbClr val="1D4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6170" y="5458968"/>
            <a:ext cx="595917" cy="274320"/>
          </a:xfrm>
          <a:prstGeom prst="roundRect">
            <a:avLst/>
          </a:prstGeom>
          <a:solidFill>
            <a:srgbClr val="1D4E8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run2 | 12.27s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812615" y="5769864"/>
            <a:ext cx="4041514" cy="0"/>
          </a:xfrm>
          <a:prstGeom prst="line">
            <a:avLst/>
          </a:prstGeom>
          <a:ln w="15875">
            <a:solidFill>
              <a:srgbClr val="1D4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197808" y="5843016"/>
            <a:ext cx="599131" cy="274320"/>
          </a:xfrm>
          <a:prstGeom prst="roundRect">
            <a:avLst/>
          </a:prstGeom>
          <a:solidFill>
            <a:srgbClr val="1D4E8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run2 | 12.33s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853500" y="6153912"/>
            <a:ext cx="2643874" cy="0"/>
          </a:xfrm>
          <a:prstGeom prst="line">
            <a:avLst/>
          </a:prstGeom>
          <a:ln w="15875">
            <a:solidFill>
              <a:srgbClr val="1D4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744200" y="5001768"/>
            <a:ext cx="0" cy="1207008"/>
          </a:xfrm>
          <a:prstGeom prst="line">
            <a:avLst/>
          </a:prstGeom>
          <a:ln w="10160">
            <a:solidFill>
              <a:srgbClr val="C3C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40080" y="4937760"/>
            <a:ext cx="10835640" cy="0"/>
          </a:xfrm>
          <a:prstGeom prst="line">
            <a:avLst/>
          </a:prstGeom>
          <a:ln w="12700">
            <a:solidFill>
              <a:srgbClr val="D2D9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12121"/>
                </a:solidFill>
              </a:defRPr>
            </a:pPr>
            <a:r>
              <a:t>2Q Raw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Directly editable numbers for copy/paste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0"/>
                <a:gridCol w="1198880"/>
                <a:gridCol w="1198880"/>
                <a:gridCol w="1198880"/>
                <a:gridCol w="1198880"/>
                <a:gridCol w="1198880"/>
                <a:gridCol w="1198880"/>
                <a:gridCol w="1198880"/>
                <a:gridCol w="1198880"/>
              </a:tblGrid>
              <a:tr h="47752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Request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TTFT(ms)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TPOT(ms)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L1 load tokens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L2 load tokens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store tokens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74700.94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31473.69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73884.53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30771.74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40689.17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92122.75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22433.72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22433.72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12121"/>
                </a:solidFill>
              </a:defRPr>
            </a:pPr>
            <a:r>
              <a:t>3Q Raw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Directly editable numbers for copy/paste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0"/>
                <a:gridCol w="1198880"/>
                <a:gridCol w="1198880"/>
                <a:gridCol w="1198880"/>
                <a:gridCol w="1198880"/>
                <a:gridCol w="1198880"/>
                <a:gridCol w="1198880"/>
                <a:gridCol w="1198880"/>
                <a:gridCol w="1198880"/>
              </a:tblGrid>
              <a:tr h="33059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Request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TTFT(ms)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TPOT(ms)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L1 load tokens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L2 load tokens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store tokens</a:t>
                      </a:r>
                    </a:p>
                  </a:txBody>
                  <a:tcPr>
                    <a:solidFill>
                      <a:srgbClr val="E6EBF0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31306.60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98.44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30869.98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103.67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30351.83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103.64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30552.87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103.65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40704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30619.58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103.77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40448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30746.89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99.22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40523.25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99.16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41785.93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99.11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40347.48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99.03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12990.40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98.17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12265.84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99.21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36864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30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12332.00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98.45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